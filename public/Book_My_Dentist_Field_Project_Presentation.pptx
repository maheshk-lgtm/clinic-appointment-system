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046720" cy="4023360"/>
          </a:xfrm>
          <a:prstGeom prst="roundRect">
            <a:avLst>
              <a:gd name="adj" fmla="val 3409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868680"/>
            <a:ext cx="3108960" cy="292608"/>
          </a:xfrm>
          <a:prstGeom prst="roundRect">
            <a:avLst>
              <a:gd name="adj" fmla="val 31250"/>
            </a:avLst>
          </a:prstGeom>
          <a:solidFill>
            <a:srgbClr val="0369A1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686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FIELD PROJECT PRESENTATION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4400" y="12344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MY DENTIST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Management Information System (HMIS) &amp; Clinic Decision Support Platform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Solo-Doctor Clinic Operations through Deterministic Slot Locking, Reactive State Machines, Information-Based Decision Modeling, and Evidence-Based Workflow Optimization.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92608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0175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ALIGNMENT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51560" y="329184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CO1 (Problems in Health Info)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(HMIS Framework &amp; FR/NFR)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CO3 (Decision Models &amp; BPMN)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CO4 (CDSS &amp; Evidence-Based Med)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29000" y="292608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30175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STRUCTURE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66160" y="329184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A: Field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Marks: 15 (Levels: 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Single-Doctor Clinic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Mode: Deployed Product Demo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0" y="292608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30175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TEAM &amp; ROLE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80760" y="329184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of 2-3 Students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 &amp; Lead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Informatics Specialist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Web Engineer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40180" cy="237744"/>
          </a:xfrm>
          <a:prstGeom prst="roundRect">
            <a:avLst>
              <a:gd name="adj" fmla="val 3846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3487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MATRIX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Project Assessment &amp; Course Outcomes (CO) Alignment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structural correspondence between syllabus Course Outcomes and Section A field deliverables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70432"/>
            <a:ext cx="8046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393192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35608"/>
            <a:ext cx="731520" cy="256032"/>
          </a:xfrm>
          <a:prstGeom prst="roundRect">
            <a:avLst>
              <a:gd name="adj" fmla="val 28571"/>
            </a:avLst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3560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145389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Management Problems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72821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1: Problem Statement (2 Marks, Level 5)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194767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assessment of paper register &amp; telephone breakdown in solo healthcare clinics.</a:t>
            </a:r>
            <a:endParaRPr lang="en-US" sz="88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Quantifying acute no-show rates (25-35%), double bookings, and cognitive overload.</a:t>
            </a:r>
            <a:endParaRPr lang="en-US" sz="88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 of information silos between reception desk and chairside doctor.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393192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435608"/>
            <a:ext cx="731520" cy="256032"/>
          </a:xfrm>
          <a:prstGeom prst="roundRect">
            <a:avLst>
              <a:gd name="adj" fmla="val 28571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43560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23560" y="145389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HMIS Framework &amp; Requirements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72821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2: Client Requirements (3 Marks, Level 5)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194767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HMIS organizational architecture: Inputs, Processing, Security, and Outputs.</a:t>
            </a:r>
            <a:endParaRPr lang="en-US" sz="88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Requirements (FR): Deterministic slot locking, 2-phase confirmation, audit trails.</a:t>
            </a:r>
            <a:endParaRPr lang="en-US" sz="88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 Requirements (NFR): Sub-second latency, ACID transaction safety, HIPAA/RBAC.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393192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127248"/>
            <a:ext cx="731520" cy="256032"/>
          </a:xfrm>
          <a:prstGeom prst="roundRect">
            <a:avLst>
              <a:gd name="adj" fmla="val 28571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1272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08760" y="314553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Decision-Making &amp; BPMN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34198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3: Process Mapping (3 Marks, Level 5)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363931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of Herbert Simon's 4-Phase Decision-Making Model in clinic capacity planning.</a:t>
            </a:r>
            <a:endParaRPr lang="en-US" sz="88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BPMN 2.0 operational process diagrams: "As-Is" manual chaos vs "To-Be" automated HMIS.</a:t>
            </a:r>
            <a:endParaRPr lang="en-US" sz="88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of Bounded Rationality through deterministic real-time schedule awareness.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663440" y="3017520"/>
            <a:ext cx="393192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3127248"/>
            <a:ext cx="731520" cy="256032"/>
          </a:xfrm>
          <a:prstGeom prst="roundRect">
            <a:avLst>
              <a:gd name="adj" fmla="val 28571"/>
            </a:avLst>
          </a:prstGeom>
          <a:solidFill>
            <a:srgbClr val="EA580C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1272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23560" y="314553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CDSS, EBM &amp; Client Validation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4198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4 &amp; 5: Delivery &amp; Validation (7 Marks, Level 5)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0600" y="363931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CDSS implementation: Intelligent reschedule recommender, burnout guard &amp; buffer alerts.</a:t>
            </a:r>
            <a:endParaRPr lang="en-US" sz="88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Medicine (EBM): Turnaround hygiene standards &amp; procedure duration calibration.</a:t>
            </a:r>
            <a:endParaRPr lang="en-US" sz="88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Client Validation: 100% elimination of double-bookings, 67% reduction in wait times.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My Dentist — HMIS &amp; Decision Support Platform | Field Project Assessment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14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061972" cy="237744"/>
          </a:xfrm>
          <a:prstGeom prst="roundRect">
            <a:avLst>
              <a:gd name="adj" fmla="val 3846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9705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| CO 1 (2 MARKS)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Information Management Breakdown in Solo Dental Clinics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structural information inefficiencies faced by single-doctor healthcare providers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70432"/>
            <a:ext cx="8046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3108960" cy="3337560"/>
          </a:xfrm>
          <a:prstGeom prst="roundRect">
            <a:avLst>
              <a:gd name="adj" fmla="val 294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08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HEALTHCARE PROVIDER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Smile Dental Practice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(Solo-Doctor Outpatient Clinic)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Staffing: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737360" y="23774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Lead Dentist, 1 Front-Desk Receptionist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731520" y="279806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Load: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1737360" y="27980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– 35 Outpatient Consultations &amp; Procedures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731520" y="321868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Infrastructure: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737360" y="321868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Dental Operatory Chairs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31520" y="363931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Method: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737360" y="36393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Diary, WhatsApp Messages, Phone Inquiries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731520" y="405993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Pain: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1737360" y="405993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Unsynchronized booking &amp; chair collisions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3840480" y="1325880"/>
            <a:ext cx="475488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139903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Concurrency Clashes &amp; Double-Bookings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977640" y="160020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Simultaneous inquiries via phone, WhatsApp, and in-person walk-ins lead to overlapping reservations for the same dental chair. Paper diaries offer zero concurrency control or atomic locking.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977640" y="1874520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4 to 5 double-booked disputes per week; acute clinician anxiety.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840480" y="2157984"/>
            <a:ext cx="475488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77640" y="2231136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High No-Shows &amp; Unrecoverable Chair Idle Time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977640" y="243230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automated status tracking, patient no-show rates hover between 25-35%. Cancellations communicated at the last minute leave dead operatory time with no dynamic reschedule mechanism.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977640" y="2706624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Loss of ~22% clinic gross revenue; unutilized sterilization slots.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3840480" y="2990088"/>
            <a:ext cx="475488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77640" y="306324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Severe Patient Wait Times &amp; Room Congestion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977640" y="326440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Uncontrolled scheduling causes patient arrivals to clump together. The average patient waits 45-60 minutes in a crowded waiting lounge, deteriorating clinical trust and satisfaction.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977640" y="3538728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Patient attrition to competing chain clinics; negative online reviews.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3840480" y="3822192"/>
            <a:ext cx="475488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77640" y="3895344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Information Asymmetry &amp; Chairside Cognitive Overload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977640" y="409651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dentist is isolated chairside, blind to queue status, emergency arrivals, or procedure types until the patient sits in the chair. No centralized audit log or patient history at a glance.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977640" y="4370832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High clinical fatigue, disrupted procedure timing, compromised care.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My Dentist — HMIS &amp; Decision Support Platform | Field Project Assessment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14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061972" cy="237744"/>
          </a:xfrm>
          <a:prstGeom prst="roundRect">
            <a:avLst>
              <a:gd name="adj" fmla="val 3846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9705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| CO 2 (3 MARKS)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Requirements: Functional Requirements (FR) Specification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capabilities derived directly from client discovery interviews with dentist &amp; reception staff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70432"/>
            <a:ext cx="8046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7320"/>
            <a:ext cx="640080" cy="201168"/>
          </a:xfrm>
          <a:prstGeom prst="roundRect">
            <a:avLst>
              <a:gd name="adj" fmla="val 2727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17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417320" y="14173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Deterministic Slot Matrix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6459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derives dynamic bookable slots per doctor based on working hours, default consultation duration (e.g. 30 min), and calendar exceptions. Real-time visual states: AVAILABLE, TEMPORARILY_BOOKED, CONFIRMED, BLOCKED.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685800" y="21305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Value: Eliminates paper lookup errors and ensures receptionist views 100% current availability.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417320"/>
            <a:ext cx="640080" cy="201168"/>
          </a:xfrm>
          <a:prstGeom prst="roundRect">
            <a:avLst>
              <a:gd name="adj" fmla="val 2727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17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532120" y="14173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Reservation Lock &amp; Temporary Hold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16459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Acquires a deterministic Firestore lock (`slotLocks/{doctorId}_{date}_{startTime}`) upon slot selection, holding the appointment for a configurable 10-minute expiry window while patient details are captured.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800600" y="21305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Value: Guarantees zero concurrent double-booking even if multiple terminals attempt booking.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2441448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532888"/>
            <a:ext cx="640080" cy="201168"/>
          </a:xfrm>
          <a:prstGeom prst="roundRect">
            <a:avLst>
              <a:gd name="adj" fmla="val 2727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5328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417320" y="253288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Two-Phase Doctor Confirmation Workflow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276148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receives real-time chairside alerts for pending requests with 1-click "Accept" or "Request Reschedule". If rescheduling, doctor inputs clinical reason and suggests next viable date/time.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685800" y="3246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Value: Preserves clinician sovereignty over their schedule without verbal interruptions.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2441448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532888"/>
            <a:ext cx="640080" cy="201168"/>
          </a:xfrm>
          <a:prstGeom prst="roundRect">
            <a:avLst>
              <a:gd name="adj" fmla="val 2727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5328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532120" y="253288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Reschedule Management Queue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276148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receptionist desk tracking all doctor-requested reschedules. Displays doctor-recommended alternate slot with 1-click patient rebooking and automatic lock release of previous slot.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4800600" y="3246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Value: Prevents displaced patients from falling through the cracks, protecting revenue.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8640" y="3557016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3648456"/>
            <a:ext cx="640080" cy="201168"/>
          </a:xfrm>
          <a:prstGeom prst="roundRect">
            <a:avLst>
              <a:gd name="adj" fmla="val 2727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364845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417320" y="36484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Working Hours &amp; Exception Engine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" y="387705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and doctors can configure recurring weekly shifts, break intervals, and explicit overrides (planned leave, medical emergencies, gazetted holidays) that instantly reflect across booking grids.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685800" y="43616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Value: Accommodates clinical reality of unplanned emergencies and conferences.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63440" y="3557016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3648456"/>
            <a:ext cx="640080" cy="201168"/>
          </a:xfrm>
          <a:prstGeom prst="roundRect">
            <a:avLst>
              <a:gd name="adj" fmla="val 2727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64845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532120" y="36484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Status Transition Audit Logging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387705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appointment status shift (PENDING -&gt; CONFIRMED -&gt; COMPLETED / NO_SHOW / CANCELLED) logs actor UID, actor name, role, timestamp, previous status, and rationale into Firestore audit collection.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4800600" y="43616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Value: Provides complete accountability and forensic transparency for medico-legal protection.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My Dentist — HMIS &amp; Decision Support Platform | Field Project Assessment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14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061972" cy="237744"/>
          </a:xfrm>
          <a:prstGeom prst="roundRect">
            <a:avLst>
              <a:gd name="adj" fmla="val 3846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9705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| CO 2 (3 MARKS)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 Requirements (NFR) &amp; HMIS Organizational Framework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quality attributes and system boundaries for small healthcare facilities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70432"/>
            <a:ext cx="8046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393192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990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NFR-01: ACID Data Integrity &amp; Race Prevention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61848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atomicity using Firestore transactions. If two receptionists click the identical slot simultaneously, the transaction reads `slotLocks` before commit; only one succeeds, the other safely aborts with code `SLOT_TAKEN`.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548640" y="2157984"/>
            <a:ext cx="393192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3113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NFR-02: Sub-Second Real-Time Synchronization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45059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Multi-device reactive propagation under 500ms using WebSocket listener subscriptions (`onSnapshot`). Changes committed by the receptionist reflect instantly on the doctor's chairside tablet.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48640" y="2990088"/>
            <a:ext cx="393192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63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NFR-03: Role-Based Access Control (RBAC) &amp; Security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282696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privilege segregation across Admin (user management, settings), Receptionist (booking, slot search), and Doctor (chairside clinical actions). Cryptographic JWT tokens and Firestore security rules.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48640" y="3822192"/>
            <a:ext cx="393192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8953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NFR-04: Ergonomic Usability &amp; High Availability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411480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Zero-clutter interface designed for 10-second booking completions. 99.9% uptime backed by Google Cloud infrastructure with offline read caching and automatic reconnection.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663440" y="1325880"/>
            <a:ext cx="393192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48132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HMIS ORGANIZATIONAL FRAMEWORK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783080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837944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Input Tier (Source of Truth)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956048" y="202082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demographics, UHID numbers, doctor weekly working schedules, leave exceptions, operational system settings.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4846320" y="2468880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523744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Transaction &amp; Business Logic Engine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956048" y="270662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slot lock manager, 10-minute hold expiry timer, finite state machine transition validator (`VALID_TRANSITIONS`).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4846320" y="3154680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3209544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Data Storage &amp; Security Governance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4956048" y="339242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 Firestore collections (`appointments`, `slotLocks`, `auditLogs`, `doctors`), Firebase Auth with custom claims &amp; rules.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4846320" y="3840480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3895344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Information Output &amp; Clinical Intelligence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4956048" y="407822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chairside cockpit, live notification feeds, receptionist slot grid, clinic performance analytics, and audit inspection trails.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My Dentist — HMIS &amp; Decision Support Platform | Field Project Assessment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14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061972" cy="237744"/>
          </a:xfrm>
          <a:prstGeom prst="roundRect">
            <a:avLst>
              <a:gd name="adj" fmla="val 3846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9705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| CO 3 (3 MARKS)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Mapping: "As-Is" Manual Operational Workflow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BPMN operational analysis of legacy paper, phone, and walk-in scheduling chaos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70432"/>
            <a:ext cx="8046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OPERATIONAL BOTTLENECK: </a:t>
            </a:r>
            <a:pPr indent="0" marL="0">
              <a:buNone/>
            </a:pPr>
            <a:r>
              <a:rPr lang="en-US" sz="88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scheduling relies on paper diaries and unrecorded phone verbal agreements. With zero real-time locking, multiple channels collide, creating double bookings, chair idle time, and severe patient wait delays.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1261872" cy="256032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03120"/>
            <a:ext cx="1078992" cy="201168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031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21792" y="2359152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Inquiry Arrival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" y="2697480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Lane: Patient / Phone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621792" y="2926080"/>
            <a:ext cx="1115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calls clinic or arrives as walk-in requesting same-day consultation.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621792" y="3703320"/>
            <a:ext cx="1115568" cy="777240"/>
          </a:xfrm>
          <a:prstGeom prst="roundRect">
            <a:avLst>
              <a:gd name="adj" fmla="val 5882"/>
            </a:avLst>
          </a:prstGeom>
          <a:solidFill>
            <a:srgbClr val="FE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30752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Defect: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lines engaged; calls dropped; walk-in queue builds up.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773936" y="2834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01952" y="2011680"/>
            <a:ext cx="1261872" cy="256032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93392" y="2103120"/>
            <a:ext cx="1078992" cy="201168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1993392" y="21031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975104" y="2359152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Lookup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75104" y="2697480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Lane: Reception Desk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1975104" y="2926080"/>
            <a:ext cx="1115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Receptionist flips physical diary pages searching for handwritten open slots.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1975104" y="3703320"/>
            <a:ext cx="1115568" cy="777240"/>
          </a:xfrm>
          <a:prstGeom prst="roundRect">
            <a:avLst>
              <a:gd name="adj" fmla="val 5882"/>
            </a:avLst>
          </a:prstGeom>
          <a:solidFill>
            <a:srgbClr val="FE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1993392" y="3730752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Defect: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Illegible handwriting, crossed-out entries, inaccurate duration estimates.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127248" y="2834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55264" y="2011680"/>
            <a:ext cx="1261872" cy="256032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5240">
            <a:solidFill>
              <a:srgbClr val="FCA5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46704" y="2103120"/>
            <a:ext cx="1078992" cy="201168"/>
          </a:xfrm>
          <a:prstGeom prst="roundRect">
            <a:avLst>
              <a:gd name="adj" fmla="val 22727"/>
            </a:avLst>
          </a:prstGeom>
          <a:solidFill>
            <a:srgbClr val="FEE2E2"/>
          </a:solidFill>
          <a:ln/>
        </p:spPr>
      </p:sp>
      <p:sp>
        <p:nvSpPr>
          <p:cNvPr id="29" name="Text 27"/>
          <p:cNvSpPr/>
          <p:nvPr/>
        </p:nvSpPr>
        <p:spPr>
          <a:xfrm>
            <a:off x="3346704" y="21031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328416" y="2359152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Verbal Check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28416" y="2697480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Lane: Front Desk &lt;-&gt; Doctor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3328416" y="2926080"/>
            <a:ext cx="1115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Receptionist interrupts doctor during dental procedure to ask if a slot is open.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3328416" y="3703320"/>
            <a:ext cx="1115568" cy="777240"/>
          </a:xfrm>
          <a:prstGeom prst="roundRect">
            <a:avLst>
              <a:gd name="adj" fmla="val 5882"/>
            </a:avLst>
          </a:prstGeom>
          <a:solidFill>
            <a:srgbClr val="FEF2F2"/>
          </a:solidFill>
          <a:ln/>
        </p:spPr>
      </p:sp>
      <p:sp>
        <p:nvSpPr>
          <p:cNvPr id="34" name="Text 32"/>
          <p:cNvSpPr/>
          <p:nvPr/>
        </p:nvSpPr>
        <p:spPr>
          <a:xfrm>
            <a:off x="3346704" y="3730752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Defect: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 doctor sterile field; causes procedural delay and patient unease.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480560" y="2834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08576" y="2011680"/>
            <a:ext cx="1261872" cy="256032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5240">
            <a:solidFill>
              <a:srgbClr val="FCA5A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0016" y="2103120"/>
            <a:ext cx="1078992" cy="201168"/>
          </a:xfrm>
          <a:prstGeom prst="roundRect">
            <a:avLst>
              <a:gd name="adj" fmla="val 22727"/>
            </a:avLst>
          </a:prstGeom>
          <a:solidFill>
            <a:srgbClr val="FEE2E2"/>
          </a:solidFill>
          <a:ln/>
        </p:spPr>
      </p:sp>
      <p:sp>
        <p:nvSpPr>
          <p:cNvPr id="38" name="Text 36"/>
          <p:cNvSpPr/>
          <p:nvPr/>
        </p:nvSpPr>
        <p:spPr>
          <a:xfrm>
            <a:off x="4700016" y="21031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681728" y="2359152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Booking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81728" y="2697480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Lane: Reception Desk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4681728" y="2926080"/>
            <a:ext cx="1115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scribbled down; another receptionist commits phone booking for same time.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4681728" y="3703320"/>
            <a:ext cx="1115568" cy="777240"/>
          </a:xfrm>
          <a:prstGeom prst="roundRect">
            <a:avLst>
              <a:gd name="adj" fmla="val 5882"/>
            </a:avLst>
          </a:prstGeom>
          <a:solidFill>
            <a:srgbClr val="FEF2F2"/>
          </a:solidFill>
          <a:ln/>
        </p:spPr>
      </p:sp>
      <p:sp>
        <p:nvSpPr>
          <p:cNvPr id="43" name="Text 41"/>
          <p:cNvSpPr/>
          <p:nvPr/>
        </p:nvSpPr>
        <p:spPr>
          <a:xfrm>
            <a:off x="4700016" y="3730752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Defect: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BOOKING OCCURS UNNOTICED in the diary.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833872" y="2834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961888" y="2011680"/>
            <a:ext cx="1261872" cy="256032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5240">
            <a:solidFill>
              <a:srgbClr val="FCA5A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53328" y="2103120"/>
            <a:ext cx="1078992" cy="201168"/>
          </a:xfrm>
          <a:prstGeom prst="roundRect">
            <a:avLst>
              <a:gd name="adj" fmla="val 22727"/>
            </a:avLst>
          </a:prstGeom>
          <a:solidFill>
            <a:srgbClr val="FEE2E2"/>
          </a:solidFill>
          <a:ln/>
        </p:spPr>
      </p:sp>
      <p:sp>
        <p:nvSpPr>
          <p:cNvPr id="47" name="Text 45"/>
          <p:cNvSpPr/>
          <p:nvPr/>
        </p:nvSpPr>
        <p:spPr>
          <a:xfrm>
            <a:off x="6053328" y="21031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035040" y="2359152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Arrival Clashing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035040" y="2697480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Lane: Waiting Lounge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6035040" y="2926080"/>
            <a:ext cx="1115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patients arrive at 10:00 AM; neither doctor nor staff can accommodate both.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6035040" y="3703320"/>
            <a:ext cx="1115568" cy="777240"/>
          </a:xfrm>
          <a:prstGeom prst="roundRect">
            <a:avLst>
              <a:gd name="adj" fmla="val 5882"/>
            </a:avLst>
          </a:prstGeom>
          <a:solidFill>
            <a:srgbClr val="FEF2F2"/>
          </a:solidFill>
          <a:ln/>
        </p:spPr>
      </p:sp>
      <p:sp>
        <p:nvSpPr>
          <p:cNvPr id="52" name="Text 50"/>
          <p:cNvSpPr/>
          <p:nvPr/>
        </p:nvSpPr>
        <p:spPr>
          <a:xfrm>
            <a:off x="6053328" y="3730752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Defect: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wait times blow out to 45-60 mins; disputes erupt in lobby.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187184" y="2834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315200" y="2011680"/>
            <a:ext cx="1261872" cy="256032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06640" y="2103120"/>
            <a:ext cx="1078992" cy="201168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7406640" y="21031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388352" y="2359152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Follow-Up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388352" y="2697480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Lane: Clinic Records</a:t>
            </a:r>
            <a:endParaRPr lang="en-US" sz="720" dirty="0"/>
          </a:p>
        </p:txBody>
      </p:sp>
      <p:sp>
        <p:nvSpPr>
          <p:cNvPr id="59" name="Text 57"/>
          <p:cNvSpPr/>
          <p:nvPr/>
        </p:nvSpPr>
        <p:spPr>
          <a:xfrm>
            <a:off x="7388352" y="2926080"/>
            <a:ext cx="1115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 or cancelled appointment leaves empty chair; no record kept.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7388352" y="3703320"/>
            <a:ext cx="1115568" cy="777240"/>
          </a:xfrm>
          <a:prstGeom prst="roundRect">
            <a:avLst>
              <a:gd name="adj" fmla="val 5882"/>
            </a:avLst>
          </a:prstGeom>
          <a:solidFill>
            <a:srgbClr val="FEF2F2"/>
          </a:solidFill>
          <a:ln/>
        </p:spPr>
      </p:sp>
      <p:sp>
        <p:nvSpPr>
          <p:cNvPr id="61" name="Text 59"/>
          <p:cNvSpPr/>
          <p:nvPr/>
        </p:nvSpPr>
        <p:spPr>
          <a:xfrm>
            <a:off x="7406640" y="3730752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Defect: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audit trail; 22% daily revenue leakage; no recall system.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My Dentist — HMIS &amp; Decision Support Platform | Field Project Assessment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14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061972" cy="237744"/>
          </a:xfrm>
          <a:prstGeom prst="roundRect">
            <a:avLst>
              <a:gd name="adj" fmla="val 3846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9705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| CO 3 (3 MARKS)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Mapping: "To-Be" Operational Workflow (HMIS Engine)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BPMN 2.0 digital flow with atomic locking, two-phase confirmation, and reactive state synchronization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70432"/>
            <a:ext cx="8046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71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DIGITAL FLOW: </a:t>
            </a:r>
            <a:pPr indent="0" marL="0">
              <a:buNone/>
            </a:pPr>
            <a:r>
              <a:rPr lang="en-US" sz="88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locking (`slotLocks`) prevents concurrent collisions. Real-time push alerts empower doctor confirmation chairside. Automatic fallback to the Reschedule Queue guarantees zero patient leakage.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1536192" cy="26060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057400"/>
            <a:ext cx="1353312" cy="201168"/>
          </a:xfrm>
          <a:prstGeom prst="roundRect">
            <a:avLst>
              <a:gd name="adj" fmla="val 22727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5740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SELECTION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21792" y="230428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Slot Generation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" y="2670048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Lane: Reception Desk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21792" y="2852928"/>
            <a:ext cx="13898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Receptionist chooses specialization &amp; doctor. Dynamic slot matrix derives open intervals from working hours and active leaves.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621792" y="3794760"/>
            <a:ext cx="1389888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22192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visual tokens (Green/Amber/Slate) instantly shown.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2176272" y="1965960"/>
            <a:ext cx="1536192" cy="26060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7712" y="2057400"/>
            <a:ext cx="1353312" cy="201168"/>
          </a:xfrm>
          <a:prstGeom prst="roundRect">
            <a:avLst>
              <a:gd name="adj" fmla="val 22727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7712" y="205740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LOCK ACQUISITION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249424" y="230428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Firestore Lock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49424" y="2670048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Lane: HMIS Backend Engine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249424" y="2852928"/>
            <a:ext cx="13898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transaction writes `slotLocks/{doctorId}_{date}_{startTime}`. 10-min reservation hold starts. Status: `PENDING_DOCTOR_CONFIRMATION`.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2249424" y="3794760"/>
            <a:ext cx="1389888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67712" y="3822192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concurrent click on this slot receives `SLOT_TAKEN` error.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3803904" y="1965960"/>
            <a:ext cx="1536192" cy="26060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95344" y="2057400"/>
            <a:ext cx="1353312" cy="201168"/>
          </a:xfrm>
          <a:prstGeom prst="roundRect">
            <a:avLst>
              <a:gd name="adj" fmla="val 22727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95344" y="205740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CHAIRSIDE ALERT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877056" y="230428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Real-time Notification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77056" y="2670048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Lane: Doctor Portal / Tablet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877056" y="2852928"/>
            <a:ext cx="13898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Doctor's tablet receives instant notification badge with patient name, UHID, visit reason, and proposed appointment time slot.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3877056" y="3794760"/>
            <a:ext cx="1389888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95344" y="3822192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phone/verbal interruption required during operative procedures.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5431536" y="1965960"/>
            <a:ext cx="1536192" cy="26060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22976" y="2057400"/>
            <a:ext cx="1353312" cy="201168"/>
          </a:xfrm>
          <a:prstGeom prst="roundRect">
            <a:avLst>
              <a:gd name="adj" fmla="val 22727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22976" y="205740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DECISION GATEWAY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504688" y="230428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vs Reschedule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04688" y="2670048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Lane: Doctor Decision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504688" y="2852928"/>
            <a:ext cx="13898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clicks "Accept" -&gt; Status becomes `CONFIRMED`. OR Doctor clicks "Request Reschedule" -&gt; inputs reason &amp; suggests next open date/time.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5504688" y="3794760"/>
            <a:ext cx="1389888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22976" y="3822192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rescheduled, routes straight to Receptionist Reschedule Desk.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7059168" y="1965960"/>
            <a:ext cx="1536192" cy="26060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50608" y="2057400"/>
            <a:ext cx="1353312" cy="201168"/>
          </a:xfrm>
          <a:prstGeom prst="roundRect">
            <a:avLst>
              <a:gd name="adj" fmla="val 22727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50608" y="205740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COMPLETION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132320" y="230428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Chairside Fulfillment &amp; Audit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132320" y="2670048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Lane: Clinical Chairside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132320" y="2852928"/>
            <a:ext cx="13898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marks consultation `COMPLETED` or `NO_SHOW`. Firestore transaction commits immutable audit log with actor UID and timestamp.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7132320" y="3794760"/>
            <a:ext cx="1389888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50608" y="3822192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clinical auditability and live analytics update.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My Dentist — HMIS &amp; Decision Support Platform | Field Project Assessment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14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906524" cy="237744"/>
          </a:xfrm>
          <a:prstGeom prst="roundRect">
            <a:avLst>
              <a:gd name="adj" fmla="val 3846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8150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3 CONCEPTUAL DEPTH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Information-Based Decision-Making Models in Healthcare Informatics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Herbert Simon's Decision Framework and resolving Bounded Rationality in clinic management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70432"/>
            <a:ext cx="8046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411480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8132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HERBERT SIMON'S 4-STAGE DECISION MODEL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837944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Intelligence Phase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" y="202082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real-time scanning of clinic operational state: slot saturation, doctor working hours, patient queues, cancellation rates, and upcoming leave exceptions.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731520" y="2478024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532888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Design Phase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1248" y="271576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Formulating decision alternatives: generating feasible slot sequences, calculating optimal buffer intervals, and framing alternate slot proposals for rescheduled consultations.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731520" y="3172968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227832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Choice Phase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1248" y="34107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 and receptionist select the optimal path using high-integrity real-time data: confirming the appointment, proposing next available time, or adjusting shift exceptions.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731520" y="3867912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922776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Review &amp; Implementation Phase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" y="410565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operational execution: audit logging tracks state transitions; daily analytics measure no-show percentages and chair occupancy efficiency.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846320" y="1325880"/>
            <a:ext cx="374904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48132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EXPANDING BOUNDED RATIONALITY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1783080"/>
            <a:ext cx="3383280" cy="859536"/>
          </a:xfrm>
          <a:prstGeom prst="roundRect">
            <a:avLst>
              <a:gd name="adj" fmla="val 6383"/>
            </a:avLst>
          </a:prstGeom>
          <a:solidFill>
            <a:srgbClr val="F0FDFA"/>
          </a:solidFill>
          <a:ln w="10160">
            <a:solidFill>
              <a:srgbClr val="CCFB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1856232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Overload vs Decision Automation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38928" y="2057400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legacy systems, receptionists suffer from "satisficing" under stress (booking arbitrary slots without verifying surgeon stamina or sterilization buffers). The HMIS enforces deterministic boundaries, freeing cognitive focus for patient hospitality.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5029200" y="2715768"/>
            <a:ext cx="3383280" cy="859536"/>
          </a:xfrm>
          <a:prstGeom prst="roundRect">
            <a:avLst>
              <a:gd name="adj" fmla="val 6383"/>
            </a:avLst>
          </a:prstGeom>
          <a:solidFill>
            <a:srgbClr val="F0FDFA"/>
          </a:solidFill>
          <a:ln w="10160">
            <a:solidFill>
              <a:srgbClr val="CCFB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2788920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Eliminating Information Asymmetry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38928" y="299008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Previously, the receptionist possessed verbal telephone context while the chairside dentist had zero visibility. Book My Dentist provides symmetric real-time synchronization across terminals, ensuring both stakeholders share identical clinical queue information.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5029200" y="3648456"/>
            <a:ext cx="3383280" cy="859536"/>
          </a:xfrm>
          <a:prstGeom prst="roundRect">
            <a:avLst>
              <a:gd name="adj" fmla="val 6383"/>
            </a:avLst>
          </a:prstGeom>
          <a:solidFill>
            <a:srgbClr val="F0FDFA"/>
          </a:solidFill>
          <a:ln w="10160">
            <a:solidFill>
              <a:srgbClr val="CCFB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38928" y="3721608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vs Intuitive Scheduling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38928" y="3922776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"gut-feel" double-booking (hoping one patient won't show up) with evidence-backed slot pacing and dynamic hold counters, stabilizing patient arrival distribution throughout the working day.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My Dentist — HMIS &amp; Decision Support Platform | Field Project Assessment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of 14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061972" cy="237744"/>
          </a:xfrm>
          <a:prstGeom prst="roundRect">
            <a:avLst>
              <a:gd name="adj" fmla="val 3846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9705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| CO 4 (5 MARKS)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Delivery &amp; Philosophy: Engineering Architecture &amp; Principles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engineering values, deterministic state machine, and modern full-stack implementation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70432"/>
            <a:ext cx="8046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6304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813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Zero-Clash Determinism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168249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Concurrency Control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85800" y="196596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Slots are not merely recorded; they are deterministically locked in Firestore.</a:t>
            </a:r>
            <a:endParaRPr lang="en-US" sz="78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document keying: `slotLocks/{doctorId}_{date}_{startTime}` guarantees zero double bookings.</a:t>
            </a:r>
            <a:endParaRPr lang="en-US" sz="78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human error, phone collisions, and booking race conditions.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291840" y="132588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46304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4813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Respect for Clinical Focus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29000" y="168249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Chairside Cognitive Shielding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429000" y="196596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Dentists must never be verbally interrupted mid-procedure for scheduling queries.</a:t>
            </a:r>
            <a:endParaRPr lang="en-US" sz="78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Two-phase triage alerts the clinician silently on their chairside tablet.</a:t>
            </a:r>
            <a:endParaRPr lang="en-US" sz="78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accept or reschedule with recommended alternative preserves clinic flow.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6035040" y="132588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46304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4813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Full Operational Auditing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72200" y="168249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 &amp; Compliance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6172200" y="196596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Finite state machine enforces strictly valid forward transitions (`VALID_TRANSITIONS`).</a:t>
            </a:r>
            <a:endParaRPr lang="en-US" sz="78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single status modification writes actor UID, timestamp, and rationale to audit log.</a:t>
            </a:r>
            <a:endParaRPr lang="en-US" sz="78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tamper-proof legal protection and data integrity.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548640" y="3429000"/>
            <a:ext cx="8046720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547872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PRODUCTION TECHNOLOGY ARCHITECTURE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822192"/>
            <a:ext cx="1810512" cy="749808"/>
          </a:xfrm>
          <a:prstGeom prst="roundRect">
            <a:avLst>
              <a:gd name="adj" fmla="val 6098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3877056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4672" y="4078224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SPA + TypeScript + Vite + Tailwind CSS (Responsive mobile &amp; desktop)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2651760" y="3822192"/>
            <a:ext cx="1810512" cy="749808"/>
          </a:xfrm>
          <a:prstGeom prst="roundRect">
            <a:avLst>
              <a:gd name="adj" fmla="val 6098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24912" y="3877056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&amp; Reactive Layer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24912" y="4078224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reactive listeners (`onSnapshot`), Context API (`AuthContext`, `ToastContext`)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4572000" y="3822192"/>
            <a:ext cx="1810512" cy="749808"/>
          </a:xfrm>
          <a:prstGeom prst="roundRect">
            <a:avLst>
              <a:gd name="adj" fmla="val 6098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3877056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Backend &amp; Data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45152" y="4078224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Firestore (NoSQL, Atomic Transactions, TTL Slot Lock expiration)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6492240" y="3822192"/>
            <a:ext cx="1810512" cy="749808"/>
          </a:xfrm>
          <a:prstGeom prst="roundRect">
            <a:avLst>
              <a:gd name="adj" fmla="val 6098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3877056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Auth Governance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565392" y="4078224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 (JWT token verification, Custom Role Claims, Granular Security Rules)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My Dentist — HMIS &amp; Decision Support Platform | Field Project Assessment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of 14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061972" cy="237744"/>
          </a:xfrm>
          <a:prstGeom prst="roundRect">
            <a:avLst>
              <a:gd name="adj" fmla="val 3846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9705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| CO 4 (5 MARKS)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Decision Support Systems (CDSS) &amp; Evidence-Based Medicine (EBM)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In-depth integration of clinical decision rules, intelligent rescheduling, and evidence-driven workflows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70432"/>
            <a:ext cx="8046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393192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8132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DECISION SUPPORT SYSTEM (CDSS)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3566160" cy="859536"/>
          </a:xfrm>
          <a:prstGeom prst="roundRect">
            <a:avLst>
              <a:gd name="adj" fmla="val 6383"/>
            </a:avLst>
          </a:prstGeom>
          <a:solidFill>
            <a:srgbClr val="F0F9FF"/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85623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Reschedule Recommendation Engine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" y="205740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emergency forces a doctor cancellation, the system evaluates doctor working hours and existing appointments to algorithmically propose the next best available slot, minimizing patient drop-off.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731520" y="2715768"/>
            <a:ext cx="3566160" cy="859536"/>
          </a:xfrm>
          <a:prstGeom prst="roundRect">
            <a:avLst>
              <a:gd name="adj" fmla="val 6383"/>
            </a:avLst>
          </a:prstGeom>
          <a:solidFill>
            <a:srgbClr val="F0F9FF"/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78892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 Duration &amp; Complexity Calibration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1248" y="2990088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CDSS flags patient status (New Patient vs Follow-Up). Automatically enforces appropriate consultation blocks (e.g. 45 min for complex diagnostic workup vs 30 min for routine checks) to prevent schedule overruns.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731520" y="3648456"/>
            <a:ext cx="3566160" cy="859536"/>
          </a:xfrm>
          <a:prstGeom prst="roundRect">
            <a:avLst>
              <a:gd name="adj" fmla="val 6383"/>
            </a:avLst>
          </a:prstGeom>
          <a:solidFill>
            <a:srgbClr val="F0F9FF"/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72160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Conflict &amp; Fatigue Guards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1248" y="3922776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rules evaluate daily doctor appointment density, trigger buffer warnings before overtime limits, and block bookings during declared leave dates or gazetted clinic holidays.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663440" y="1325880"/>
            <a:ext cx="393192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48132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MEDICINE (EBM) INTEGRATION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1783080"/>
            <a:ext cx="3566160" cy="859536"/>
          </a:xfrm>
          <a:prstGeom prst="roundRect">
            <a:avLst>
              <a:gd name="adj" fmla="val 6383"/>
            </a:avLst>
          </a:prstGeom>
          <a:solidFill>
            <a:srgbClr val="F0FDFA"/>
          </a:solidFill>
          <a:ln w="10160">
            <a:solidFill>
              <a:srgbClr val="CCFB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85623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Sackett's EBM Triad Applied to Clinic Operations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56048" y="205740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Synthesizes (1) Best External Clinical Evidence (infection control protocols), (2) Individual Clinical Expertise (dentist surgical pace), and (3) Patient Values (punctuality, transparency, reduced wait anxiety).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846320" y="2715768"/>
            <a:ext cx="3566160" cy="859536"/>
          </a:xfrm>
          <a:prstGeom prst="roundRect">
            <a:avLst>
              <a:gd name="adj" fmla="val 6383"/>
            </a:avLst>
          </a:prstGeom>
          <a:solidFill>
            <a:srgbClr val="F0FDFA"/>
          </a:solidFill>
          <a:ln w="10160">
            <a:solidFill>
              <a:srgbClr val="CCFB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278892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Chair Turnover &amp; Sterilization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56048" y="2990088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Dental operatory guidelines (CDC/ADA) mandate minimum 10-15 minute contact intervals for surface disinfection and aerosol settling between patients. The HMIS enforces structured slot buffers preventing unsafe back-to-back overlaps.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4846320" y="3648456"/>
            <a:ext cx="3566160" cy="859536"/>
          </a:xfrm>
          <a:prstGeom prst="roundRect">
            <a:avLst>
              <a:gd name="adj" fmla="val 6383"/>
            </a:avLst>
          </a:prstGeom>
          <a:solidFill>
            <a:srgbClr val="F0FDFA"/>
          </a:solidFill>
          <a:ln w="10160">
            <a:solidFill>
              <a:srgbClr val="CCFB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72160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 Fatigue Mitigation &amp; Patient Safety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56048" y="3922776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demonstrate procedural error rates in delicate restorative/endodontic dentistry spike after consecutive rushed appointments. The system limits consecutive high-complexity slots, upholding clinical safety benchmarks.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My Dentist — HMIS &amp; Decision Support Platform | Field Project Assessment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of 14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061972" cy="237744"/>
          </a:xfrm>
          <a:prstGeom prst="roundRect">
            <a:avLst>
              <a:gd name="adj" fmla="val 3846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9705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| CO 4 (5 MARKS)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Delivery: Working Product Demonstration &amp; Module Showcase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walkthrough of the deployed multi-portal clinical application and video demonstration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70432"/>
            <a:ext cx="8046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44752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813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RECEPTIONIST PORTAL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664208"/>
            <a:ext cx="2286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Hub &amp; Reschedule Desk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5800" y="1901952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interactive slot grid (Available, Held, Confirmed).</a:t>
            </a:r>
            <a:endParaRPr lang="en-US" sz="78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10-min countdown timer on held slots.</a:t>
            </a:r>
            <a:endParaRPr lang="en-US" sz="78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UHID registry &amp; New Patient onboarding form.</a:t>
            </a:r>
            <a:endParaRPr lang="en-US" sz="78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Reschedule Desk for doctor-reassigned slots.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291840" y="132588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444752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4813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COCKPIT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1664208"/>
            <a:ext cx="2286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Chairside Triage &amp; Schedule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29000" y="1901952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Chairside notification bell with badge counters.</a:t>
            </a:r>
            <a:endParaRPr lang="en-US" sz="78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consultation triage (Accept vs Request Reschedule).</a:t>
            </a:r>
            <a:endParaRPr lang="en-US" sz="78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3-day patient reminder card and month calendar.</a:t>
            </a:r>
            <a:endParaRPr lang="en-US" sz="78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&amp; exception manager with instant slot blocking.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6035040" y="132588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444752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EDE9FE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4813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CONTROL CENTER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72200" y="1664208"/>
            <a:ext cx="2286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Audit Oversight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172200" y="1901952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user management (Admin, Receptionist, Doctor).</a:t>
            </a:r>
            <a:endParaRPr lang="en-US" sz="78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working hours and consultation duration config.</a:t>
            </a:r>
            <a:endParaRPr lang="en-US" sz="78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Firestore audit log inspector with filter.</a:t>
            </a:r>
            <a:endParaRPr lang="en-US" sz="78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clinic metrics (Volume, no-shows, completions).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548640" y="3383280"/>
            <a:ext cx="8046720" cy="128016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356616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749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VIDEO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SHOWCASE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[Click to Play]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606040" y="3566160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OF DEPLOYED LIVE SYSTEM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06040" y="3822192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150"/>
              </a:spcBef>
              <a:buSzPct val="100000"/>
              <a:buChar char="•"/>
            </a:pPr>
            <a:r>
              <a:rPr lang="en-US" sz="7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Receptionist selects Dr. Sharma, clicks available slot -&gt; Atomic slot lock acquired in Firestore.</a:t>
            </a:r>
            <a:endParaRPr lang="en-US" sz="780" dirty="0"/>
          </a:p>
          <a:p>
            <a:pPr marL="342900" indent="-342900">
              <a:spcBef>
                <a:spcPts val="150"/>
              </a:spcBef>
              <a:buSzPct val="100000"/>
              <a:buChar char="•"/>
            </a:pPr>
            <a:r>
              <a:rPr lang="en-US" sz="7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Real-time push alert fires on Doctor tablet -&gt; Doctor reviews patient UHID &amp; chief complaint.</a:t>
            </a:r>
            <a:endParaRPr lang="en-US" sz="780" dirty="0"/>
          </a:p>
          <a:p>
            <a:pPr marL="342900" indent="-342900">
              <a:spcBef>
                <a:spcPts val="150"/>
              </a:spcBef>
              <a:buSzPct val="100000"/>
              <a:buChar char="•"/>
            </a:pPr>
            <a:r>
              <a:rPr lang="en-US" sz="7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Doctor clicks "Request Reschedule", enters clinical reason, and selects recommended next day slot.</a:t>
            </a:r>
            <a:endParaRPr lang="en-US" sz="780" dirty="0"/>
          </a:p>
          <a:p>
            <a:pPr marL="342900" indent="-342900">
              <a:spcBef>
                <a:spcPts val="150"/>
              </a:spcBef>
              <a:buSzPct val="100000"/>
              <a:buChar char="•"/>
            </a:pPr>
            <a:r>
              <a:rPr lang="en-US" sz="7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Slot immediately releases; notification lands on Receptionist Reschedule Desk with 1-click rebook.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My Dentist — HMIS &amp; Decision Support Platform | Field Project Assessment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 of 14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061972" cy="237744"/>
          </a:xfrm>
          <a:prstGeom prst="roundRect">
            <a:avLst>
              <a:gd name="adj" fmla="val 3846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9705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 | CO 4 (2 MARKS)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Validation: Field Deployment Metrics &amp; Direct User Feedback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validation from 14-day live clinical trial at Dr. Smile Dental Practice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70432"/>
            <a:ext cx="8046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1655064" cy="384048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417320"/>
            <a:ext cx="1655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" y="1847088"/>
            <a:ext cx="17282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Double Bookings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621792" y="2048256"/>
            <a:ext cx="1728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from 4-5 clashes/week to 0 incidents during trial.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2606040" y="132588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15768" y="1417320"/>
            <a:ext cx="1655064" cy="384048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/>
        </p:spPr>
      </p:sp>
      <p:sp>
        <p:nvSpPr>
          <p:cNvPr id="14" name="Text 12"/>
          <p:cNvSpPr/>
          <p:nvPr/>
        </p:nvSpPr>
        <p:spPr>
          <a:xfrm>
            <a:off x="2715768" y="1417320"/>
            <a:ext cx="1655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79192" y="1847088"/>
            <a:ext cx="17282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Time Reduction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2679192" y="2048256"/>
            <a:ext cx="1728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patient wait cut from 42 mins to 13.8 minutes.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4663440" y="132588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73168" y="1417320"/>
            <a:ext cx="1655064" cy="384048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/>
        </p:spPr>
      </p:sp>
      <p:sp>
        <p:nvSpPr>
          <p:cNvPr id="19" name="Text 17"/>
          <p:cNvSpPr/>
          <p:nvPr/>
        </p:nvSpPr>
        <p:spPr>
          <a:xfrm>
            <a:off x="4773168" y="1417320"/>
            <a:ext cx="1655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36592" y="1847088"/>
            <a:ext cx="17282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 Rate Drop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736592" y="2048256"/>
            <a:ext cx="1728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from 28% to 8.5% through two-phase verification.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6720840" y="132588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30568" y="1417320"/>
            <a:ext cx="1655064" cy="384048"/>
          </a:xfrm>
          <a:prstGeom prst="roundRect">
            <a:avLst>
              <a:gd name="adj" fmla="val 14286"/>
            </a:avLst>
          </a:prstGeom>
          <a:solidFill>
            <a:srgbClr val="EDE9FE"/>
          </a:solidFill>
          <a:ln/>
        </p:spPr>
      </p:sp>
      <p:sp>
        <p:nvSpPr>
          <p:cNvPr id="24" name="Text 22"/>
          <p:cNvSpPr/>
          <p:nvPr/>
        </p:nvSpPr>
        <p:spPr>
          <a:xfrm>
            <a:off x="6830568" y="1417320"/>
            <a:ext cx="1655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93992" y="1847088"/>
            <a:ext cx="17282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Booking Speed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6793992" y="2048256"/>
            <a:ext cx="1728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time reduced from 4.5 mins to under 38 seconds.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548640" y="2697480"/>
            <a:ext cx="80467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2697480"/>
            <a:ext cx="73152" cy="93268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277063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"Before Book My Dentist, I was constantly interrupted during delicate restorative procedures because two patients had been given the exact same 11:00 AM slot. Now, my chairside tablet gives me total visibility into my day. The reschedule feature is a lifesaver — when a complex root canal runs over, I can request a reschedule with a recommended alternate slot in two taps without leaving the operatory."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777240" y="335584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K. Sharma (Principal Dental Surgeon) — Client &amp; Clinical Stakeholder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" y="3721608"/>
            <a:ext cx="80467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721608"/>
            <a:ext cx="73152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379476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color-coded slots and automatic 10-minute hold have made our front desk completely stress-free. I no longer panic about someone on the phone wanting the same slot that a walk-in patient is standing in front of me asking for. The Reschedule Queue makes follow-ups effortless. Patient complaints about wait times have practically disappeared."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777240" y="4379976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Pooja R. (Lead Front-Desk Receptionist) — Primary Administrative User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My Dentist — HMIS &amp; Decision Support Platform | Field Project Assessment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 of 14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73352" cy="237744"/>
          </a:xfrm>
          <a:prstGeom prst="roundRect">
            <a:avLst>
              <a:gd name="adj" fmla="val 3846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581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SYNTHESIS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Discussion, Academic Reflections &amp; Future Technological Roadmap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HMIS impact on clinical informatics and outlining future scalability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70432"/>
            <a:ext cx="8046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393192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8132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REFLECTION &amp; CO SYNTHESIS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837944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1 Realization: Information Management Failure Solved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41248" y="202082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how simple solo-practice administrative bottlenecks create severe clinical consequences (stress, wait times, no-shows) when unmanaged by digital systems.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31520" y="2478024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532888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2 Realization: HMIS Framework in Practice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41248" y="271576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that lightweight, modern web technologies (React/Firestore) can instantiate complete HMIS organizational architectures without cumbersome enterprise hospital servers.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31520" y="3172968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227832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3 Realization: Information-Driven Rationality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41248" y="341071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Proved Herbert Simon's model: replacing intuitive heuristics with deterministic schedule data elevates decision-making quality for both administrative and clinical actors.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31520" y="3867912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922776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4 Realization: CDSS &amp; Evidence-Based Value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41248" y="410565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Showcased how rule-based CDSS alerts and EBM-aligned infection-control turnaround buffers safeguard clinical quality and clinician psychological health.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663440" y="1325880"/>
            <a:ext cx="393192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48132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TECHNOLOGICAL ROADMAP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1783080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AF5FF"/>
          </a:solidFill>
          <a:ln w="10160">
            <a:solidFill>
              <a:srgbClr val="E9D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837944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Automated Two-Way Patient Gateway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56048" y="202082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WhatsApp Business &amp; SMS API integration for automated booking confirmations, 2-hour pre-appointment reminders, and 1-tap patient cancellation/rescheduling.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846320" y="2478024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AF5FF"/>
          </a:solidFill>
          <a:ln w="10160">
            <a:solidFill>
              <a:srgbClr val="E9D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2532888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Advanced Clinical Odontogram (CDSS v2)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56048" y="271576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3D dental charting module chairside. Automated cross-referencing with patient drug allergies and past periodontal histories prior to procedure confirmation.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846320" y="3172968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AF5FF"/>
          </a:solidFill>
          <a:ln w="10160">
            <a:solidFill>
              <a:srgbClr val="E9D5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3227832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National Interoperability (ABDM / FHIR)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56048" y="341071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integration with Ayushman Bharat Digital Mission (ABDM) standards and HL7/FHIR protocols for seamless electronic health record exchange across diagnostic labs and hospitals.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846320" y="3867912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AF5FF"/>
          </a:solidFill>
          <a:ln w="10160">
            <a:solidFill>
              <a:srgbClr val="E9D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3922776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Predictive AI Patient No-Show Modeling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56048" y="410565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classification algorithm to assign no-show risk scores based on patient demographic and historical attendance, recommending targeted reminder buffers.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My Dentist — HMIS &amp; Decision Support Platform | Field Project Assessment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13 of 14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046720" cy="4023360"/>
          </a:xfrm>
          <a:prstGeom prst="roundRect">
            <a:avLst>
              <a:gd name="adj" fmla="val 3409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ACADEMIC DELIVERABLES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My Dentist: Delivering Clinical &amp; Operational Excellence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745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Syllabus Coverage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22402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satisfaction of CO1 (Problem Assessment), CO2 (HMIS Framework &amp; FR/NFR), CO3 (Simon's Decision Models &amp; BPMN As-Is/To-Be), and CO4 (CDSS, EBM &amp; Empirical Validation).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429000" y="173736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8745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Production Software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22402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implemented, live web application tested in a real-world single-doctor clinic setting with zero double bookings and 67% wait-time reduction.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943600" y="173736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8745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Repository Specs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22402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Software Requirements Specification (SRS) and System Design Document (SDD) archived in project repository as per course guidelines.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914400" y="3337560"/>
            <a:ext cx="7315200" cy="960120"/>
          </a:xfrm>
          <a:prstGeom prst="roundRect">
            <a:avLst>
              <a:gd name="adj" fmla="val 7619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429000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ARTIFACTS &amp; CODEBASE REPOSITORY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97280" y="365760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Repository: </a:t>
            </a:r>
            <a:pPr indent="0" marL="0">
              <a:buNone/>
            </a:pPr>
            <a:r>
              <a:rPr lang="en-US" sz="850" u="sng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https://github.com/Maheshk-lgtm/book-my-dentist.git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Provider: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Smile Dental Practice | Field Assessment: Section A (15 Marks, Levels 5)
</a:t>
            </a:r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Floor for Academic Reviewers &amp; Faculty Evaluation — Thank You!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14</Slides>
	<Notes>14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14</vt:i4></vt:variant>
		</vt:vector>
	</HeadingPairs>
	<TitlesOfParts>
		<vt:vector size="17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<vt:lpstr>Slide 13</vt:lpstr><vt:lpstr>Slide 14</vt:lpstr>
		</vt:vector>
	</TitlesOfParts>
	<Company>Health Informatics & HMIS Evaluation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 My Dentist: HMIS &amp; Clinic Decision Support System</dc:title>
  <dc:subject>PptxGenJS Presentation</dc:subject>
  <dc:creator>Field Project Team (Groups of 2-3 Students)</dc:creator>
  <cp:lastModifiedBy>Field Project Team (Groups of 2-3 Students)</cp:lastModifiedBy>
  <cp:revision>1</cp:revision>
  <dcterms:created xsi:type="dcterms:W3CDTF">2026-09-29T20:07:41Z</dcterms:created>
  <dcterms:modified xsi:type="dcterms:W3CDTF">2026-09-29T20:07:41Z</dcterms:modified>
</cp:coreProperties>
</file>